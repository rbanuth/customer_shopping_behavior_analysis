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arker Grotesque Medium"/>
      <p:regular r:id="rId201314"/>
    </p:embeddedFont>
    <p:embeddedFont>
      <p:font typeface="Darker Grotesque SemiBold"/>
      <p:regular r:id="rId201315"/>
    </p:embeddedFont>
    <p:embeddedFont>
      <p:font typeface="Darker Grotesqu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9D2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CCC5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D9D2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4105275"/>
            <a:ext cx="7604629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Customer shopping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behavior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04792" y="6029325"/>
            <a:ext cx="760462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What 3,900 purchases reveal about revenue concentration, loyalty, subscriptions, products, and next actions.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976096" y="6188075"/>
            <a:ext cx="2910708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671303" y="6397625"/>
            <a:ext cx="352039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Customer behavior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THE READOUT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Four signals stand out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04792" y="1455341"/>
            <a:ext cx="5562461" cy="1387475"/>
          </a:xfrm>
          <a:prstGeom prst="roundRect">
            <a:avLst>
              <a:gd name="adj" fmla="val 1922"/>
            </a:avLst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3842" y="1474391"/>
            <a:ext cx="5524362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038796" y="1607741"/>
            <a:ext cx="7040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1637" y="2075524"/>
            <a:ext cx="51687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Loyalty is strong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1637" y="2490391"/>
            <a:ext cx="536561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3,116 customers are classified as loyal.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2" y="1455341"/>
            <a:ext cx="5562461" cy="1387475"/>
          </a:xfrm>
          <a:prstGeom prst="roundRect">
            <a:avLst>
              <a:gd name="adj" fmla="val 1922"/>
            </a:avLst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3491" y="1474391"/>
            <a:ext cx="5524362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038106" y="1607741"/>
            <a:ext cx="7446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21287" y="2075524"/>
            <a:ext cx="51687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Subscriptions lag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21287" y="2490391"/>
            <a:ext cx="536561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27% of customers subscribe, while 73% do not.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4792" y="3300016"/>
            <a:ext cx="5562461" cy="1565275"/>
          </a:xfrm>
          <a:prstGeom prst="roundRect">
            <a:avLst>
              <a:gd name="adj" fmla="val 1704"/>
            </a:avLst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842" y="3319066"/>
            <a:ext cx="5524362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18754" y="3452416"/>
            <a:ext cx="7440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01637" y="3920199"/>
            <a:ext cx="51687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Discounts can still drive spend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1637" y="4335066"/>
            <a:ext cx="516877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839 customers used discounts and spent above the average purchase amount.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4442" y="3300016"/>
            <a:ext cx="5562461" cy="1565275"/>
          </a:xfrm>
          <a:prstGeom prst="roundRect">
            <a:avLst>
              <a:gd name="adj" fmla="val 1704"/>
            </a:avLst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3491" y="3319066"/>
            <a:ext cx="5524362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037511" y="3452416"/>
            <a:ext cx="74590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521287" y="3920199"/>
            <a:ext cx="51687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The clearest growth levers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21287" y="4335066"/>
            <a:ext cx="536561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Convert repeat buyers, sharpen product positioning, and protect margin.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555155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FIELD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1753964"/>
            <a:ext cx="11582110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The dataset is broad enough to guide action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04792" y="2712045"/>
            <a:ext cx="2552636" cy="3810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3062883"/>
            <a:ext cx="209544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3,900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33387" y="3778845"/>
            <a:ext cx="23240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transactions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14617" y="2712045"/>
            <a:ext cx="2552636" cy="3810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8" name="Text 6"/>
          <p:cNvSpPr/>
          <p:nvPr/>
        </p:nvSpPr>
        <p:spPr>
          <a:xfrm>
            <a:off x="3543211" y="3062883"/>
            <a:ext cx="209544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25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543211" y="3778845"/>
            <a:ext cx="23240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products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4442" y="2712045"/>
            <a:ext cx="2552636" cy="3810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3036" y="3062883"/>
            <a:ext cx="209544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4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553036" y="3778845"/>
            <a:ext cx="23240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categories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266" y="2712045"/>
            <a:ext cx="2552636" cy="3810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14" name="Text 12"/>
          <p:cNvSpPr/>
          <p:nvPr/>
        </p:nvSpPr>
        <p:spPr>
          <a:xfrm>
            <a:off x="9562861" y="3062883"/>
            <a:ext cx="209544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50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562861" y="3778845"/>
            <a:ext cx="23240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locations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4792" y="4518620"/>
            <a:ext cx="556246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Four seasons are represented. Customer ages span 18–70.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24442" y="4518620"/>
            <a:ext cx="556246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Average purchase: $59.76</a:t>
            </a:r>
            <a:endParaRPr lang="en-US" sz="2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Average review rating: 3.75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4792" y="5148508"/>
            <a:ext cx="1188690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37 review ratings were missing and imputed by product-category median.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552450"/>
            <a:ext cx="637524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REVENUE SHAPE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387" y="751260"/>
            <a:ext cx="5892653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Revenue is concentrated in a few customer and category pockets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33387" y="3172222"/>
            <a:ext cx="5892653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spcAft>
                <a:spcPts val="950"/>
              </a:spcAft>
              <a:buNone/>
            </a:pPr>
            <a:r>
              <a:rPr lang="en-US" sz="21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Male customers generated </a:t>
            </a:r>
            <a:pPr algn="l" indent="0" marL="0">
              <a:lnSpc>
                <a:spcPct val="83000"/>
              </a:lnSpc>
              <a:spcAft>
                <a:spcPts val="950"/>
              </a:spcAft>
              <a:buNone/>
            </a:pPr>
            <a:r>
              <a:rPr lang="en-US" sz="2100" b="1" dirty="0">
                <a:solidFill>
                  <a:srgbClr val="2B2622"/>
                </a:solidFill>
                <a:latin typeface="Darker Grotesque Bold" pitchFamily="34" charset="0"/>
                <a:ea typeface="Darker Grotesque Bold" pitchFamily="34" charset="-122"/>
                <a:cs typeface="Darker Grotesque Bold" pitchFamily="34" charset="0"/>
              </a:rPr>
              <a:t>$157,890</a:t>
            </a:r>
            <a:pPr algn="l" indent="0" marL="0">
              <a:lnSpc>
                <a:spcPct val="83000"/>
              </a:lnSpc>
              <a:spcAft>
                <a:spcPts val="950"/>
              </a:spcAft>
              <a:buNone/>
            </a:pPr>
            <a:r>
              <a:rPr lang="en-US" sz="21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 versus </a:t>
            </a:r>
            <a:pPr algn="l" indent="0" marL="0">
              <a:lnSpc>
                <a:spcPct val="83000"/>
              </a:lnSpc>
              <a:spcAft>
                <a:spcPts val="950"/>
              </a:spcAft>
              <a:buNone/>
            </a:pPr>
            <a:r>
              <a:rPr lang="en-US" sz="2100" b="1" dirty="0">
                <a:solidFill>
                  <a:srgbClr val="2B2622"/>
                </a:solidFill>
                <a:latin typeface="Darker Grotesque Bold" pitchFamily="34" charset="0"/>
                <a:ea typeface="Darker Grotesque Bold" pitchFamily="34" charset="-122"/>
                <a:cs typeface="Darker Grotesque Bold" pitchFamily="34" charset="0"/>
              </a:rPr>
              <a:t>$75,191</a:t>
            </a:r>
            <a:pPr algn="l" indent="0" marL="0">
              <a:lnSpc>
                <a:spcPct val="83000"/>
              </a:lnSpc>
              <a:spcAft>
                <a:spcPts val="950"/>
              </a:spcAft>
              <a:buNone/>
            </a:pPr>
            <a:r>
              <a:rPr lang="en-US" sz="21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 from female customers.</a:t>
            </a:r>
            <a:endParaRPr lang="en-US" sz="21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Clothing is the largest category by revenue and sales, followed by Accessories.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LOYALTY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Repeat behavior is the business engine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1429941"/>
            <a:ext cx="6304102" cy="32138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65984" y="2333625"/>
            <a:ext cx="482081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3,116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7065984" y="3100388"/>
            <a:ext cx="482081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customers are loyal.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065984" y="3452813"/>
            <a:ext cx="4820720" cy="19050"/>
          </a:xfrm>
          <a:prstGeom prst="roundRect">
            <a:avLst>
              <a:gd name="adj" fmla="val 49999"/>
            </a:avLst>
          </a:prstGeom>
          <a:solidFill>
            <a:srgbClr val="A8C5DC"/>
          </a:solidFill>
          <a:ln/>
        </p:spPr>
      </p:sp>
      <p:sp>
        <p:nvSpPr>
          <p:cNvPr id="8" name="Text 5"/>
          <p:cNvSpPr/>
          <p:nvPr/>
        </p:nvSpPr>
        <p:spPr>
          <a:xfrm>
            <a:off x="7065984" y="3624263"/>
            <a:ext cx="48208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Among repeat buyers, 958 subscribe and 2,518 do not.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SUBSCRIPTIONS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Subscriptions have a conversion problem, not a spend problem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04792" y="2186781"/>
            <a:ext cx="5562461" cy="20447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2434431"/>
            <a:ext cx="53338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AVERAGE PURCHASE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2799556"/>
            <a:ext cx="5105272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$59.49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533387" y="3780631"/>
            <a:ext cx="533386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Subscribers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2" y="2186781"/>
            <a:ext cx="5562461" cy="20447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53036" y="2434431"/>
            <a:ext cx="53338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AVERAGE PURCHASE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53036" y="2799556"/>
            <a:ext cx="5105272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$59.87</a:t>
            </a:r>
            <a:endParaRPr lang="en-US" sz="7400" dirty="0"/>
          </a:p>
        </p:txBody>
      </p:sp>
      <p:sp>
        <p:nvSpPr>
          <p:cNvPr id="11" name="Text 9"/>
          <p:cNvSpPr/>
          <p:nvPr/>
        </p:nvSpPr>
        <p:spPr>
          <a:xfrm>
            <a:off x="6553036" y="3780631"/>
            <a:ext cx="533386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Non-subscribers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4792" y="4377531"/>
            <a:ext cx="5562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REVENUE FROM SUBSCRIBERS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4792" y="4699794"/>
            <a:ext cx="5562461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$62,645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24442" y="4377531"/>
            <a:ext cx="55624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REVENUE FROM NON-SUBSCRIBERS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4442" y="4696619"/>
            <a:ext cx="5562461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$170,436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04792" y="5393531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Spend per purchase is nearly level. The gap is conversion: 27% subscribe, while 73% do not.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PRODUCT SIGNALS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Product winners are visible in ratings and category demand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2161381"/>
          <a:ext cx="5638659" cy="914400"/>
        </p:xfrm>
        <a:graphic>
          <a:graphicData uri="http://schemas.openxmlformats.org/drawingml/2006/table">
            <a:tbl>
              <a:tblPr/>
              <a:tblGrid>
                <a:gridCol w="3834213"/>
                <a:gridCol w="1804446"/>
              </a:tblGrid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Top-rated products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Rating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Gloves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3.86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Sandals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3.84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Boots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3.82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Hat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3.80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8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Skirt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3.78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161381"/>
          <a:ext cx="5638659" cy="914400"/>
        </p:xfrm>
        <a:graphic>
          <a:graphicData uri="http://schemas.openxmlformats.org/drawingml/2006/table">
            <a:tbl>
              <a:tblPr/>
              <a:tblGrid>
                <a:gridCol w="2819330"/>
                <a:gridCol w="2819330"/>
              </a:tblGrid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Category leaders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Category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Jewelry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Accessories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Blouse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Clothing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Sandals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Footwear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8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Jacket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0"/>
                        </a:rPr>
                        <a:t>Outerwear</a:t>
                      </a:r>
                      <a:endParaRPr lang="en-US" sz="14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PROMOTION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Discounts unlock demand — and expose margin risk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792" y="2986683"/>
            <a:ext cx="4635384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839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304792" y="4100711"/>
            <a:ext cx="46353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customers used discounts while spending above the average purchase amount.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365" y="2161381"/>
            <a:ext cx="6489538" cy="31329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4792" y="5440362"/>
            <a:ext cx="1188690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The most discount-dependent products are Hat, Sneakers, Coat, Sweater, and Pants.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TARGETING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Fulfillment and age point to sharper targeting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04792" y="1455341"/>
            <a:ext cx="5562461" cy="2298700"/>
          </a:xfrm>
          <a:prstGeom prst="roundRect">
            <a:avLst>
              <a:gd name="adj" fmla="val 116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33387" y="1702991"/>
            <a:ext cx="53338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AVERAGE PURCHASE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2001441"/>
            <a:ext cx="5105272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$60.48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533387" y="2904199"/>
            <a:ext cx="51052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Express shipping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3387" y="3325416"/>
            <a:ext cx="53338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Standard: $58.46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24442" y="1455341"/>
            <a:ext cx="5562461" cy="2298700"/>
          </a:xfrm>
          <a:prstGeom prst="roundRect">
            <a:avLst>
              <a:gd name="adj" fmla="val 116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36" y="1702991"/>
            <a:ext cx="53338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HIGHEST-REVENUE AGE GROUP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53036" y="2001441"/>
            <a:ext cx="5105272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$62,143</a:t>
            </a:r>
            <a:endParaRPr lang="en-US" sz="7400" dirty="0"/>
          </a:p>
        </p:txBody>
      </p:sp>
      <p:sp>
        <p:nvSpPr>
          <p:cNvPr id="12" name="Text 10"/>
          <p:cNvSpPr/>
          <p:nvPr/>
        </p:nvSpPr>
        <p:spPr>
          <a:xfrm>
            <a:off x="6553036" y="2904199"/>
            <a:ext cx="51052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Young Adults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53036" y="3325416"/>
            <a:ext cx="53338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Middle-aged: $59,197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4792" y="6308725"/>
            <a:ext cx="1188690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Target high-revenue age groups and test express-shipping messages.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924602" cy="6858000"/>
          </a:xfrm>
          <a:prstGeom prst="rect">
            <a:avLst/>
          </a:prstGeom>
          <a:solidFill>
            <a:srgbClr val="2B2622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52450"/>
            <a:ext cx="73912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NEXT ACTIONS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387" y="751260"/>
            <a:ext cx="6908627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Five actions to turn insight into growth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33387" y="2364581"/>
            <a:ext cx="76664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A8C5DC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3387" y="2613521"/>
            <a:ext cx="3301917" cy="1905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2749815"/>
            <a:ext cx="33019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Promote subscriber-only benefits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3387" y="3164681"/>
            <a:ext cx="33019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Start with repeat buyers.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40096" y="2364581"/>
            <a:ext cx="79363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A8C5DC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40096" y="2613521"/>
            <a:ext cx="3301917" cy="1905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11" name="Text 9"/>
          <p:cNvSpPr/>
          <p:nvPr/>
        </p:nvSpPr>
        <p:spPr>
          <a:xfrm>
            <a:off x="4140096" y="2749815"/>
            <a:ext cx="33019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Build loyalty rewards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40096" y="3164681"/>
            <a:ext cx="33019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Move returning customers into the loyal segment.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3387" y="3802559"/>
            <a:ext cx="79333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A8C5DC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3387" y="4051498"/>
            <a:ext cx="3301917" cy="1905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15" name="Text 13"/>
          <p:cNvSpPr/>
          <p:nvPr/>
        </p:nvSpPr>
        <p:spPr>
          <a:xfrm>
            <a:off x="533387" y="4187792"/>
            <a:ext cx="33019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Review discount depth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3387" y="4602659"/>
            <a:ext cx="330191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Focus on products with the highest discount dependence.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40096" y="3802559"/>
            <a:ext cx="79452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A8C5DC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40096" y="4051498"/>
            <a:ext cx="3301917" cy="1905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19" name="Text 17"/>
          <p:cNvSpPr/>
          <p:nvPr/>
        </p:nvSpPr>
        <p:spPr>
          <a:xfrm>
            <a:off x="4140096" y="4187792"/>
            <a:ext cx="33019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Feature product winners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40096" y="4602659"/>
            <a:ext cx="330191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Use top-rated products and category leaders in campaigns.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3387" y="5240734"/>
            <a:ext cx="79561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A8C5DC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3387" y="5489674"/>
            <a:ext cx="6908528" cy="19050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23" name="Text 21"/>
          <p:cNvSpPr/>
          <p:nvPr/>
        </p:nvSpPr>
        <p:spPr>
          <a:xfrm>
            <a:off x="533387" y="5625968"/>
            <a:ext cx="69086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0"/>
              </a:rPr>
              <a:t>Sharpen targeting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3387" y="6040834"/>
            <a:ext cx="69086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0"/>
              </a:rPr>
              <a:t>Reach high-revenue age groups and test express-shipping messages.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2026-10-29T00:32:38Z</dcterms:created>
  <dcterms:modified xsi:type="dcterms:W3CDTF">2026-10-29T00:32:38Z</dcterms:modified>
</cp:coreProperties>
</file>